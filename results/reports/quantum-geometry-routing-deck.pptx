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Aft>
                <a:spcPts val="600"/>
              </a:spcAft>
              <a:defRPr sz="4800" b="1">
                <a:solidFill>
                  <a:srgbClr val="58A6FF"/>
                </a:solidFill>
                <a:latin typeface="Calibri"/>
              </a:defRPr>
            </a:pPr>
            <a:r>
              <a:t>Quantum Geometry Routing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418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Aft>
                <a:spcPts val="600"/>
              </a:spcAft>
              <a:defRPr sz="2200" b="0">
                <a:solidFill>
                  <a:srgbClr val="E6EDF3"/>
                </a:solidFill>
                <a:latin typeface="Calibri"/>
              </a:defRPr>
            </a:pPr>
            <a:r>
              <a:t>Which road-map should future quantum clouds use?</a:t>
            </a:r>
            <a:br/>
            <a:r>
              <a:t>Bell-state routing across 2016, 2026 and future chip topologies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12064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Aft>
                <a:spcPts val="600"/>
              </a:spcAft>
              <a:defRPr sz="1600" b="0">
                <a:solidFill>
                  <a:srgbClr val="8B949E"/>
                </a:solidFill>
                <a:latin typeface="Calibri"/>
              </a:defRPr>
            </a:pPr>
            <a:r>
              <a:t>Track 4: Geometry-Aware Quantum Cloud Challenge  |  IBM Qiskit Fall Fest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3200" b="1">
                <a:solidFill>
                  <a:srgbClr val="58A6FF"/>
                </a:solidFill>
                <a:latin typeface="Calibri"/>
              </a:defRPr>
            </a:pPr>
            <a:r>
              <a:t>The problem: distant qubits pay a SWAP tax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E6EDF3"/>
                </a:solidFill>
                <a:latin typeface="Calibri"/>
              </a:defRPr>
            </a:pPr>
            <a:r>
              <a:t>Cloud QPUs have 100+ qubits, but each qubit talks to only a few neighbors.</a:t>
            </a:r>
          </a:p>
          <a:p>
            <a:pPr>
              <a:spcAft>
                <a:spcPts val="1000"/>
              </a:spcAft>
              <a:defRPr sz="1900">
                <a:solidFill>
                  <a:srgbClr val="E6EDF3"/>
                </a:solidFill>
                <a:latin typeface="Calibri"/>
              </a:defRPr>
            </a:pPr>
            <a:r>
              <a:t>Entangling distant qubits needs SWAP detours along the coupling graph.</a:t>
            </a:r>
          </a:p>
          <a:p>
            <a:pPr>
              <a:spcAft>
                <a:spcPts val="1000"/>
              </a:spcAft>
              <a:defRPr sz="1900">
                <a:solidFill>
                  <a:srgbClr val="E6EDF3"/>
                </a:solidFill>
                <a:latin typeface="Calibri"/>
              </a:defRPr>
            </a:pPr>
            <a:r>
              <a:t>Each SWAP = more gates = more noise exposure = worse entanglement.</a:t>
            </a:r>
          </a:p>
          <a:p>
            <a:pPr>
              <a:spcAft>
                <a:spcPts val="1000"/>
              </a:spcAft>
              <a:defRPr sz="1900">
                <a:solidFill>
                  <a:srgbClr val="E6EDF3"/>
                </a:solidFill>
                <a:latin typeface="Calibri"/>
              </a:defRPr>
            </a:pPr>
            <a:r>
              <a:t>Question: which coupling-graph geometry minimizes this tax?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3200" b="1">
                <a:solidFill>
                  <a:srgbClr val="58A6FF"/>
                </a:solidFill>
                <a:latin typeface="Calibri"/>
              </a:defRPr>
            </a:pPr>
            <a:r>
              <a:t>Our experiment: 9 real simulations + a scaling sweep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E6EDF3"/>
                </a:solidFill>
                <a:latin typeface="Calibri"/>
              </a:defRPr>
            </a:pPr>
            <a:r>
              <a:t>Bell state |Phi+&gt; routed between the two farthest qubits of each chip (worst case).</a:t>
            </a:r>
          </a:p>
          <a:p>
            <a:pPr>
              <a:spcAft>
                <a:spcPts val="1000"/>
              </a:spcAft>
              <a:defRPr sz="1900">
                <a:solidFill>
                  <a:srgbClr val="E6EDF3"/>
                </a:solidFill>
                <a:latin typeface="Calibri"/>
              </a:defRPr>
            </a:pPr>
            <a:r>
              <a:t>Matrix: T-shape (5q, 2016) x heavy-hex (21q, IBM-style) x hyperbolic {7,3} (20q).</a:t>
            </a:r>
          </a:p>
          <a:p>
            <a:pPr>
              <a:spcAft>
                <a:spcPts val="1000"/>
              </a:spcAft>
              <a:defRPr sz="1900">
                <a:solidFill>
                  <a:srgbClr val="E6EDF3"/>
                </a:solidFill>
                <a:latin typeface="Calibri"/>
              </a:defRPr>
            </a:pPr>
            <a:r>
              <a:t>Conditions: ideal, noisy (depolarizing + readout), noisy + ancilla protection.</a:t>
            </a:r>
          </a:p>
          <a:p>
            <a:pPr>
              <a:spcAft>
                <a:spcPts val="1000"/>
              </a:spcAft>
              <a:defRPr sz="1900">
                <a:solidFill>
                  <a:srgbClr val="E6EDF3"/>
                </a:solidFill>
                <a:latin typeface="Calibri"/>
              </a:defRPr>
            </a:pPr>
            <a:r>
              <a:t>Scaling sweep: 13 chips, 20 to 127 qubits, 3 families -- how does the worst trip grow?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3200" b="1">
                <a:solidFill>
                  <a:srgbClr val="58A6FF"/>
                </a:solidFill>
                <a:latin typeface="Calibri"/>
              </a:defRPr>
            </a:pPr>
            <a:r>
              <a:t>How it works (and why you can trust it)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E6EDF3"/>
                </a:solidFill>
                <a:latin typeface="Calibri"/>
              </a:defRPr>
            </a:pPr>
            <a:r>
              <a:t>H + CNOT makes the Bell state; Qiskit transpile() routes it onto the coupling map.</a:t>
            </a:r>
          </a:p>
          <a:p>
            <a:pPr>
              <a:spcAft>
                <a:spcPts val="1000"/>
              </a:spcAft>
              <a:defRPr sz="1900">
                <a:solidFill>
                  <a:srgbClr val="E6EDF3"/>
                </a:solidFill>
                <a:latin typeface="Calibri"/>
              </a:defRPr>
            </a:pPr>
            <a:r>
              <a:t>Fidelity from XX/YY/ZZ correlators: F = (1 + &lt;XX&gt; - &lt;YY&gt; + &lt;ZZ&gt;) / 4.</a:t>
            </a:r>
          </a:p>
          <a:p>
            <a:pPr>
              <a:spcAft>
                <a:spcPts val="1000"/>
              </a:spcAft>
              <a:defRPr sz="1900">
                <a:solidFill>
                  <a:srgbClr val="E6EDF3"/>
                </a:solidFill>
                <a:latin typeface="Calibri"/>
              </a:defRPr>
            </a:pPr>
            <a:r>
              <a:t>Protection: an ancilla measures the ZZ then XX stabilizers mid-circuit; we keep only clean-syndrome shots and score the data bits alone.</a:t>
            </a:r>
          </a:p>
          <a:p>
            <a:pPr>
              <a:spcAft>
                <a:spcPts val="1000"/>
              </a:spcAft>
              <a:defRPr sz="1900">
                <a:solidFill>
                  <a:srgbClr val="E6EDF3"/>
                </a:solidFill>
                <a:latin typeface="Calibri"/>
              </a:defRPr>
            </a:pPr>
            <a:r>
              <a:t>Selection and scoring use disjoint bits -- random noise cannot fake F=1.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3200" b="1">
                <a:solidFill>
                  <a:srgbClr val="58A6FF"/>
                </a:solidFill>
                <a:latin typeface="Calibri"/>
              </a:defRPr>
            </a:pPr>
            <a:r>
              <a:t>Result 1: the detour depends on the road-map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120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E6EDF3"/>
                </a:solidFill>
                <a:latin typeface="Calibri"/>
              </a:defRPr>
            </a:pPr>
            <a:r>
              <a:t>T-shape (5q, 2016): 2 SWAPs across diameter 3.</a:t>
            </a:r>
          </a:p>
          <a:p>
            <a:pPr>
              <a:spcAft>
                <a:spcPts val="1000"/>
              </a:spcAft>
              <a:defRPr sz="1900">
                <a:solidFill>
                  <a:srgbClr val="E6EDF3"/>
                </a:solidFill>
                <a:latin typeface="Calibri"/>
              </a:defRPr>
            </a:pPr>
            <a:r>
              <a:t>heavy-hex (21q, IBM-style): 9 SWAPs across diameter 10.</a:t>
            </a:r>
          </a:p>
          <a:p>
            <a:pPr>
              <a:spcAft>
                <a:spcPts val="1000"/>
              </a:spcAft>
              <a:defRPr sz="1900">
                <a:solidFill>
                  <a:srgbClr val="E6EDF3"/>
                </a:solidFill>
                <a:latin typeface="Calibri"/>
              </a:defRPr>
            </a:pPr>
            <a:r>
              <a:t>hyperbolic {7,3} (20q, future): 6 SWAPs across diameter 7.</a:t>
            </a:r>
          </a:p>
          <a:p>
            <a:pPr>
              <a:spcAft>
                <a:spcPts val="1000"/>
              </a:spcAft>
              <a:defRPr sz="1900">
                <a:solidFill>
                  <a:srgbClr val="E6EDF3"/>
                </a:solidFill>
                <a:latin typeface="Calibri"/>
              </a:defRPr>
            </a:pPr>
            <a:r>
              <a:t>Every SWAP is noise exposure: routing cost is the whole story.</a:t>
            </a:r>
          </a:p>
        </p:txBody>
      </p:sp>
      <p:pic>
        <p:nvPicPr>
          <p:cNvPr id="4" name="Picture 3" descr="routing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63040"/>
            <a:ext cx="5303520" cy="2209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603504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Aft>
                <a:spcPts val="600"/>
              </a:spcAft>
              <a:defRPr sz="1400" b="0">
                <a:solidFill>
                  <a:srgbClr val="8B949E"/>
                </a:solidFill>
                <a:latin typeface="Calibri"/>
              </a:defRPr>
            </a:pPr>
            <a:r>
              <a:t>SWAPs and two-qubit depth per topology (worst-case pair)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3200" b="1">
                <a:solidFill>
                  <a:srgbClr val="58A6FF"/>
                </a:solidFill>
                <a:latin typeface="Calibri"/>
              </a:defRPr>
            </a:pPr>
            <a:r>
              <a:t>Result 2: protection helps -- honestly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120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E6EDF3"/>
                </a:solidFill>
                <a:latin typeface="Calibri"/>
              </a:defRPr>
            </a:pPr>
            <a:r>
              <a:t>Noisy fidelity: T-shape 0.920, heavy-hex 0.894, hyperbolic {7,3} 0.907.</a:t>
            </a:r>
          </a:p>
          <a:p>
            <a:pPr>
              <a:spcAft>
                <a:spcPts val="1000"/>
              </a:spcAft>
              <a:defRPr sz="1900">
                <a:solidFill>
                  <a:srgbClr val="E6EDF3"/>
                </a:solidFill>
                <a:latin typeface="Calibri"/>
              </a:defRPr>
            </a:pPr>
            <a:r>
              <a:t>Protected: T-shape 0.934 (+0.014), heavy-hex 0.921 (+0.027), hyperbolic {7,3} 0.928 (+0.020).</a:t>
            </a:r>
          </a:p>
          <a:p>
            <a:pPr>
              <a:spcAft>
                <a:spcPts val="1000"/>
              </a:spcAft>
              <a:defRPr sz="1900">
                <a:solidFill>
                  <a:srgbClr val="E6EDF3"/>
                </a:solidFill>
                <a:latin typeface="Calibri"/>
              </a:defRPr>
            </a:pPr>
            <a:r>
              <a:t>Cost of protection: +1 SWAP, +4 CX, ~12% of shots discarded.</a:t>
            </a:r>
          </a:p>
          <a:p>
            <a:pPr>
              <a:spcAft>
                <a:spcPts val="1000"/>
              </a:spcAft>
              <a:defRPr sz="1900">
                <a:solidFill>
                  <a:srgbClr val="E6EDF3"/>
                </a:solidFill>
                <a:latin typeface="Calibri"/>
              </a:defRPr>
            </a:pPr>
            <a:r>
              <a:t>It never reaches 1.0 -- some errors always slip through. That is the honest trade.</a:t>
            </a:r>
          </a:p>
        </p:txBody>
      </p:sp>
      <p:pic>
        <p:nvPicPr>
          <p:cNvPr id="4" name="Picture 3" descr="fide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63040"/>
            <a:ext cx="5303520" cy="2651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603504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Aft>
                <a:spcPts val="600"/>
              </a:spcAft>
              <a:defRPr sz="1400" b="0">
                <a:solidFill>
                  <a:srgbClr val="8B949E"/>
                </a:solidFill>
                <a:latin typeface="Calibri"/>
              </a:defRPr>
            </a:pPr>
            <a:r>
              <a:t>Bell-state fidelity across topologies and conditions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3200" b="1">
                <a:solidFill>
                  <a:srgbClr val="58A6FF"/>
                </a:solidFill>
                <a:latin typeface="Calibri"/>
              </a:defRPr>
            </a:pPr>
            <a:r>
              <a:t>Result 3: scaling decides the future (recommendation)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120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E6EDF3"/>
                </a:solidFill>
                <a:latin typeface="Calibri"/>
              </a:defRPr>
            </a:pPr>
            <a:r>
              <a:t>At 127 qubits, heavy-hex (real IBM Eagle map) has diameter 26; hyperbolic 152q has diameter 16.</a:t>
            </a:r>
          </a:p>
          <a:p>
            <a:pPr>
              <a:spcAft>
                <a:spcPts val="1000"/>
              </a:spcAft>
              <a:defRPr sz="1900">
                <a:solidFill>
                  <a:srgbClr val="E6EDF3"/>
                </a:solidFill>
                <a:latin typeface="Calibri"/>
              </a:defRPr>
            </a:pPr>
            <a:r>
              <a:t>Heavy-hex scales ~2.3*sqrt(N) -- worse than a plain grid (~1.8*sqrt(N)).</a:t>
            </a:r>
          </a:p>
          <a:p>
            <a:pPr>
              <a:spcAft>
                <a:spcPts val="1000"/>
              </a:spcAft>
              <a:defRPr sz="1900">
                <a:solidFill>
                  <a:srgbClr val="E6EDF3"/>
                </a:solidFill>
                <a:latin typeface="Calibri"/>
              </a:defRPr>
            </a:pPr>
            <a:r>
              <a:t>Recommend: max degree 3, diameter target log(N), no long degree-2 wire chains, small faces (&lt;=8), budget error detection only for the longest routes.</a:t>
            </a:r>
          </a:p>
          <a:p>
            <a:pPr>
              <a:spcAft>
                <a:spcPts val="1000"/>
              </a:spcAft>
              <a:defRPr sz="1900">
                <a:solidFill>
                  <a:srgbClr val="E6EDF3"/>
                </a:solidFill>
                <a:latin typeface="Calibri"/>
              </a:defRPr>
            </a:pPr>
            <a:r>
              <a:t>Full evidence: docs/recommendation.md + results/tables/scaling.csv.</a:t>
            </a:r>
          </a:p>
        </p:txBody>
      </p:sp>
      <p:pic>
        <p:nvPicPr>
          <p:cNvPr id="4" name="Picture 3" descr="scaling_diame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63040"/>
            <a:ext cx="5303520" cy="3241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603504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Aft>
                <a:spcPts val="600"/>
              </a:spcAft>
              <a:defRPr sz="1400" b="0">
                <a:solidFill>
                  <a:srgbClr val="8B949E"/>
                </a:solidFill>
                <a:latin typeface="Calibri"/>
              </a:defRPr>
            </a:pPr>
            <a:r>
              <a:t>Worst-case hops vs qubit count (log-x): hyperbolic grows slowest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3200" b="1">
                <a:solidFill>
                  <a:srgbClr val="58A6FF"/>
                </a:solidFill>
                <a:latin typeface="Calibri"/>
              </a:defRPr>
            </a:pPr>
            <a:r>
              <a:t>System and reproducibility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E6EDF3"/>
                </a:solidFill>
                <a:latin typeface="Calibri"/>
              </a:defRPr>
            </a:pPr>
            <a:r>
              <a:t>Modular repo: quantum/ core, algorithms/ matrix+sweep, backend/ FastAPI, frontend/ React.</a:t>
            </a:r>
          </a:p>
          <a:p>
            <a:pPr>
              <a:spcAft>
                <a:spcPts val="1000"/>
              </a:spcAft>
              <a:defRPr sz="1900">
                <a:solidFill>
                  <a:srgbClr val="E6EDF3"/>
                </a:solidFill>
                <a:latin typeface="Calibri"/>
              </a:defRPr>
            </a:pPr>
            <a:r>
              <a:t>17 pytest tests, fixed seeds, pinned requirements.</a:t>
            </a:r>
          </a:p>
          <a:p>
            <a:pPr>
              <a:spcAft>
                <a:spcPts val="1000"/>
              </a:spcAft>
              <a:defRPr sz="1900">
                <a:solidFill>
                  <a:srgbClr val="E6EDF3"/>
                </a:solidFill>
                <a:latin typeface="Calibri"/>
              </a:defRPr>
            </a:pPr>
            <a:r>
              <a:t>Topologies: T-shape, star, heavy-hex patches (21/35/106), real Eagle-127, {7,3} tiling, grid.</a:t>
            </a:r>
          </a:p>
          <a:p>
            <a:pPr>
              <a:spcAft>
                <a:spcPts val="1000"/>
              </a:spcAft>
              <a:defRPr sz="1900">
                <a:solidFill>
                  <a:srgbClr val="E6EDF3"/>
                </a:solidFill>
                <a:latin typeface="Calibri"/>
              </a:defRPr>
            </a:pPr>
            <a:r>
              <a:t>Next: real QPU runs, noise-aware routing, non-planar shortcut couplers.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